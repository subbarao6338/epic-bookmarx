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7518E-B235-4BF5-BCAC-438BA853ABAA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7F81E-597D-484C-8C23-B813F6ED6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51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7518E-B235-4BF5-BCAC-438BA853ABAA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7F81E-597D-484C-8C23-B813F6ED6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759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7518E-B235-4BF5-BCAC-438BA853ABAA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7F81E-597D-484C-8C23-B813F6ED6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408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7518E-B235-4BF5-BCAC-438BA853ABAA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7F81E-597D-484C-8C23-B813F6ED6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02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7518E-B235-4BF5-BCAC-438BA853ABAA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7F81E-597D-484C-8C23-B813F6ED6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35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7518E-B235-4BF5-BCAC-438BA853ABAA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7F81E-597D-484C-8C23-B813F6ED6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391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7518E-B235-4BF5-BCAC-438BA853ABAA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7F81E-597D-484C-8C23-B813F6ED6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124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7518E-B235-4BF5-BCAC-438BA853ABAA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7F81E-597D-484C-8C23-B813F6ED6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09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7518E-B235-4BF5-BCAC-438BA853ABAA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7F81E-597D-484C-8C23-B813F6ED6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983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7518E-B235-4BF5-BCAC-438BA853ABAA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7F81E-597D-484C-8C23-B813F6ED6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23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7518E-B235-4BF5-BCAC-438BA853ABAA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7F81E-597D-484C-8C23-B813F6ED6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879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7518E-B235-4BF5-BCAC-438BA853ABAA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7F81E-597D-484C-8C23-B813F6ED6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44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rometheus.io/docs/operating/integrations/#remote-endpoints-and-storage" TargetMode="External"/><Relationship Id="rId2" Type="http://schemas.openxmlformats.org/officeDocument/2006/relationships/hyperlink" Target="https://docs.influxdata.com/telegraf/v1.22/plugins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rafana.com/docs/grafana/latest/datasources/influxdb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grafana/azure-monitor-datasource/issues/81" TargetMode="External"/><Relationship Id="rId3" Type="http://schemas.openxmlformats.org/officeDocument/2006/relationships/hyperlink" Target="https://github.com/RobustPerception/azure_metrics_exporter" TargetMode="External"/><Relationship Id="rId7" Type="http://schemas.openxmlformats.org/officeDocument/2006/relationships/hyperlink" Target="https://github.com/dodopizza/azure_billing_exporter" TargetMode="External"/><Relationship Id="rId2" Type="http://schemas.openxmlformats.org/officeDocument/2006/relationships/hyperlink" Target="https://prometheus.io/docs/instrumenting/exporter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microsoft.com/en-us/azure/data-factory/monitor-metrics-alerts" TargetMode="External"/><Relationship Id="rId5" Type="http://schemas.openxmlformats.org/officeDocument/2006/relationships/hyperlink" Target="https://github.com/FXinnovation/azure-health-exporter" TargetMode="External"/><Relationship Id="rId4" Type="http://schemas.openxmlformats.org/officeDocument/2006/relationships/hyperlink" Target="https://promitor.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55782" y="1043433"/>
            <a:ext cx="11573164" cy="480131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altLang="zh-CN" sz="1600" b="1" dirty="0" err="1" smtClean="0"/>
              <a:t>Fuctionality</a:t>
            </a:r>
            <a:r>
              <a:rPr lang="en-US" altLang="zh-CN" sz="1600" b="1" dirty="0" smtClean="0"/>
              <a:t> </a:t>
            </a:r>
            <a:r>
              <a:rPr lang="en-US" altLang="zh-CN" sz="1600" b="1" dirty="0"/>
              <a:t>of each component</a:t>
            </a:r>
            <a:endParaRPr lang="zh-CN" altLang="en-US" sz="1600" b="1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/>
              <a:t>Prometheus, </a:t>
            </a:r>
            <a:r>
              <a:rPr lang="en-US" altLang="zh-CN" sz="1600" dirty="0" err="1"/>
              <a:t>telegraf</a:t>
            </a:r>
            <a:r>
              <a:rPr lang="en-US" altLang="zh-CN" sz="1600" dirty="0"/>
              <a:t> –</a:t>
            </a:r>
            <a:r>
              <a:rPr lang="zh-CN" altLang="en-US" sz="1600" dirty="0"/>
              <a:t> </a:t>
            </a:r>
            <a:r>
              <a:rPr lang="en-US" altLang="zh-CN" sz="1600" dirty="0"/>
              <a:t>metrics collector</a:t>
            </a:r>
            <a:endParaRPr lang="zh-CN" alt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 err="1"/>
              <a:t>InfluxDB</a:t>
            </a:r>
            <a:r>
              <a:rPr lang="en-US" altLang="zh-CN" sz="1600" dirty="0"/>
              <a:t> –</a:t>
            </a:r>
            <a:r>
              <a:rPr lang="zh-CN" altLang="en-US" sz="1600" dirty="0"/>
              <a:t> </a:t>
            </a:r>
            <a:r>
              <a:rPr lang="en-US" altLang="zh-CN" sz="1600" dirty="0"/>
              <a:t>metrics storage(database)</a:t>
            </a:r>
            <a:endParaRPr lang="zh-CN" alt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 err="1"/>
              <a:t>Grafana</a:t>
            </a:r>
            <a:r>
              <a:rPr lang="en-US" altLang="zh-CN" sz="1600" dirty="0"/>
              <a:t> –</a:t>
            </a:r>
            <a:r>
              <a:rPr lang="zh-CN" altLang="en-US" sz="1600" dirty="0"/>
              <a:t> </a:t>
            </a:r>
            <a:r>
              <a:rPr lang="en-US" altLang="zh-CN" sz="1600" dirty="0"/>
              <a:t>visualization </a:t>
            </a:r>
            <a:r>
              <a:rPr lang="en-US" altLang="zh-CN" sz="1600" dirty="0" smtClean="0"/>
              <a:t>layer</a:t>
            </a:r>
          </a:p>
          <a:p>
            <a:endParaRPr lang="zh-CN" altLang="en-US" sz="1400" dirty="0"/>
          </a:p>
          <a:p>
            <a:r>
              <a:rPr lang="en-US" altLang="zh-CN" sz="1600" b="1" dirty="0" err="1" smtClean="0"/>
              <a:t>Telegraf-InfluxDB</a:t>
            </a:r>
            <a:r>
              <a:rPr lang="en-US" altLang="zh-CN" sz="1600" b="1" dirty="0" smtClean="0"/>
              <a:t> integration</a:t>
            </a:r>
            <a:endParaRPr lang="zh-CN" altLang="en-US" sz="1600" dirty="0"/>
          </a:p>
          <a:p>
            <a:r>
              <a:rPr lang="en-US" altLang="zh-CN" sz="1600" dirty="0"/>
              <a:t>Write collected metrics to </a:t>
            </a:r>
            <a:r>
              <a:rPr lang="en-US" altLang="zh-CN" sz="1600" dirty="0" err="1"/>
              <a:t>InfluxDB</a:t>
            </a:r>
            <a:r>
              <a:rPr lang="en-US" altLang="zh-CN" sz="1600" dirty="0"/>
              <a:t> through available output plugin -</a:t>
            </a:r>
            <a:r>
              <a:rPr lang="zh-CN" altLang="en-US" sz="1600" dirty="0"/>
              <a:t>”</a:t>
            </a:r>
            <a:r>
              <a:rPr lang="en-US" altLang="zh-CN" sz="1600" dirty="0" err="1"/>
              <a:t>output.influxdb</a:t>
            </a:r>
            <a:r>
              <a:rPr lang="zh-CN" altLang="en-US" sz="1600" dirty="0"/>
              <a:t>”</a:t>
            </a:r>
          </a:p>
          <a:p>
            <a:r>
              <a:rPr lang="en-US" altLang="zh-CN" sz="1600" dirty="0"/>
              <a:t>ref: </a:t>
            </a:r>
            <a:r>
              <a:rPr lang="en-US" altLang="zh-CN" sz="1600" u="sng" dirty="0" err="1">
                <a:hlinkClick r:id="rId2"/>
              </a:rPr>
              <a:t>telegraf</a:t>
            </a:r>
            <a:r>
              <a:rPr lang="en-US" altLang="zh-CN" sz="1600" u="sng" dirty="0">
                <a:hlinkClick r:id="rId2"/>
              </a:rPr>
              <a:t> </a:t>
            </a:r>
            <a:r>
              <a:rPr lang="en-US" altLang="zh-CN" sz="1600" u="sng" dirty="0" smtClean="0">
                <a:hlinkClick r:id="rId2"/>
              </a:rPr>
              <a:t>plugins</a:t>
            </a:r>
          </a:p>
          <a:p>
            <a:endParaRPr lang="zh-CN" altLang="en-US" sz="1600" dirty="0">
              <a:hlinkClick r:id="rId2"/>
            </a:endParaRPr>
          </a:p>
          <a:p>
            <a:r>
              <a:rPr lang="en-US" altLang="zh-CN" sz="1600" b="1" dirty="0"/>
              <a:t>Prometheus-</a:t>
            </a:r>
            <a:r>
              <a:rPr lang="en-US" altLang="zh-CN" sz="1600" b="1" dirty="0" err="1"/>
              <a:t>InfluxDB</a:t>
            </a:r>
            <a:r>
              <a:rPr lang="en-US" altLang="zh-CN" sz="1600" b="1" dirty="0"/>
              <a:t> integration</a:t>
            </a:r>
            <a:endParaRPr lang="zh-CN" altLang="en-US" sz="1600" b="1" dirty="0"/>
          </a:p>
          <a:p>
            <a:r>
              <a:rPr lang="en-US" altLang="zh-CN" sz="1600" dirty="0"/>
              <a:t>There are two ways: </a:t>
            </a:r>
            <a:endParaRPr lang="zh-CN" altLang="en-US" sz="1600" dirty="0"/>
          </a:p>
          <a:p>
            <a:pPr marL="342900" lvl="1" indent="-342900">
              <a:buFont typeface="+mj-lt"/>
              <a:buAutoNum type="arabicPeriod"/>
            </a:pPr>
            <a:r>
              <a:rPr lang="en-US" altLang="zh-CN" sz="1600" dirty="0"/>
              <a:t>Remote storage integrations: configure </a:t>
            </a:r>
            <a:r>
              <a:rPr lang="zh-CN" altLang="en-US" sz="1600" dirty="0"/>
              <a:t>‘</a:t>
            </a:r>
            <a:r>
              <a:rPr lang="en-US" altLang="zh-CN" sz="1600" dirty="0" err="1"/>
              <a:t>remote_write</a:t>
            </a:r>
            <a:r>
              <a:rPr lang="zh-CN" altLang="en-US" sz="1600" dirty="0"/>
              <a:t>’ </a:t>
            </a:r>
            <a:r>
              <a:rPr lang="en-US" altLang="zh-CN" sz="1600" dirty="0"/>
              <a:t>as </a:t>
            </a:r>
            <a:r>
              <a:rPr lang="en-US" altLang="zh-CN" sz="1600" dirty="0" err="1"/>
              <a:t>influxDB</a:t>
            </a:r>
            <a:r>
              <a:rPr lang="zh-CN" altLang="en-US" sz="1600" dirty="0"/>
              <a:t/>
            </a:r>
            <a:br>
              <a:rPr lang="zh-CN" altLang="en-US" sz="1600" dirty="0"/>
            </a:br>
            <a:r>
              <a:rPr lang="en-US" altLang="zh-CN" sz="1600" dirty="0"/>
              <a:t>ref: </a:t>
            </a:r>
            <a:r>
              <a:rPr lang="en-US" altLang="zh-CN" sz="1600" dirty="0">
                <a:hlinkClick r:id="rId3"/>
              </a:rPr>
              <a:t>remote-endpoints-and-storage</a:t>
            </a:r>
            <a:endParaRPr lang="zh-CN" altLang="en-US" sz="1600" dirty="0">
              <a:hlinkClick r:id="rId3"/>
            </a:endParaRPr>
          </a:p>
          <a:p>
            <a:pPr marL="342900" lvl="1" indent="-342900">
              <a:buFont typeface="+mj-lt"/>
              <a:buAutoNum type="arabicPeriod"/>
            </a:pPr>
            <a:r>
              <a:rPr lang="en-US" altLang="zh-CN" sz="1600" dirty="0" err="1"/>
              <a:t>Telegraf</a:t>
            </a:r>
            <a:r>
              <a:rPr lang="en-US" altLang="zh-CN" sz="1600" dirty="0"/>
              <a:t> input plugin-</a:t>
            </a:r>
            <a:r>
              <a:rPr lang="zh-CN" altLang="en-US" sz="1600" dirty="0"/>
              <a:t>“</a:t>
            </a:r>
            <a:r>
              <a:rPr lang="en-US" altLang="zh-CN" sz="1600" dirty="0" err="1"/>
              <a:t>inputs.prometheus</a:t>
            </a:r>
            <a:r>
              <a:rPr lang="zh-CN" altLang="en-US" sz="1600" dirty="0"/>
              <a:t>”</a:t>
            </a:r>
            <a:r>
              <a:rPr lang="en-US" altLang="zh-CN" sz="1600" dirty="0"/>
              <a:t>: gathers metrics from HTTP servers exposing metrics in Prometheus </a:t>
            </a:r>
            <a:r>
              <a:rPr lang="en-US" altLang="zh-CN" sz="1600" dirty="0" smtClean="0"/>
              <a:t>format</a:t>
            </a:r>
          </a:p>
          <a:p>
            <a:pPr marL="0" lvl="1"/>
            <a:r>
              <a:rPr lang="en-US" altLang="zh-CN" sz="1600" dirty="0" smtClean="0"/>
              <a:t> </a:t>
            </a:r>
            <a:endParaRPr lang="zh-CN" altLang="en-US" sz="1600" dirty="0"/>
          </a:p>
          <a:p>
            <a:r>
              <a:rPr lang="en-US" altLang="zh-CN" sz="1600" b="1" dirty="0" err="1" smtClean="0"/>
              <a:t>InfluxDB-Grafana</a:t>
            </a:r>
            <a:r>
              <a:rPr lang="en-US" altLang="zh-CN" sz="1600" b="1" dirty="0" smtClean="0"/>
              <a:t> integration</a:t>
            </a:r>
            <a:endParaRPr lang="zh-CN" altLang="en-US" sz="1600" b="1" dirty="0"/>
          </a:p>
          <a:p>
            <a:r>
              <a:rPr lang="en-US" altLang="zh-CN" sz="1600" dirty="0" err="1"/>
              <a:t>Grafana</a:t>
            </a:r>
            <a:r>
              <a:rPr lang="en-US" altLang="zh-CN" sz="1600" dirty="0"/>
              <a:t> support </a:t>
            </a:r>
            <a:r>
              <a:rPr lang="en-US" altLang="zh-CN" sz="1600" dirty="0" err="1"/>
              <a:t>influxDB</a:t>
            </a:r>
            <a:r>
              <a:rPr lang="en-US" altLang="zh-CN" sz="1600" dirty="0"/>
              <a:t> as </a:t>
            </a:r>
            <a:r>
              <a:rPr lang="en-US" altLang="zh-CN" sz="1600" dirty="0" err="1"/>
              <a:t>datasource</a:t>
            </a:r>
            <a:r>
              <a:rPr lang="en-US" altLang="zh-CN" sz="1600" dirty="0"/>
              <a:t> for visualization, so any data from </a:t>
            </a:r>
            <a:r>
              <a:rPr lang="en-US" altLang="zh-CN" sz="1600" dirty="0" err="1"/>
              <a:t>influxDB</a:t>
            </a:r>
            <a:r>
              <a:rPr lang="en-US" altLang="zh-CN" sz="1600" dirty="0"/>
              <a:t> can be pulled and visualized in </a:t>
            </a:r>
            <a:r>
              <a:rPr lang="en-US" altLang="zh-CN" sz="1600" dirty="0" err="1"/>
              <a:t>Grafana</a:t>
            </a:r>
            <a:endParaRPr lang="zh-CN" altLang="en-US" sz="1600" dirty="0"/>
          </a:p>
          <a:p>
            <a:r>
              <a:rPr lang="en-US" altLang="zh-CN" sz="1600" dirty="0"/>
              <a:t>ref: </a:t>
            </a:r>
            <a:r>
              <a:rPr lang="en-US" altLang="zh-CN" sz="1600" dirty="0" err="1">
                <a:hlinkClick r:id="rId4"/>
              </a:rPr>
              <a:t>InfluxDb</a:t>
            </a:r>
            <a:r>
              <a:rPr lang="en-US" altLang="zh-CN" sz="1600" dirty="0">
                <a:hlinkClick r:id="rId4"/>
              </a:rPr>
              <a:t> </a:t>
            </a:r>
            <a:r>
              <a:rPr lang="en-US" altLang="zh-CN" sz="1600" dirty="0" err="1">
                <a:hlinkClick r:id="rId4"/>
              </a:rPr>
              <a:t>datasource</a:t>
            </a:r>
            <a:r>
              <a:rPr lang="en-US" altLang="zh-CN" sz="1600" dirty="0">
                <a:hlinkClick r:id="rId4"/>
              </a:rPr>
              <a:t> in </a:t>
            </a:r>
            <a:r>
              <a:rPr lang="en-US" altLang="zh-CN" sz="1600" dirty="0" err="1">
                <a:hlinkClick r:id="rId4"/>
              </a:rPr>
              <a:t>Grafana</a:t>
            </a:r>
            <a:endParaRPr lang="zh-CN" altLang="en-US" sz="1600" dirty="0">
              <a:hlinkClick r:id="rId4"/>
            </a:endParaRPr>
          </a:p>
          <a:p>
            <a:endParaRPr lang="zh-CN" alt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655782" y="212436"/>
            <a:ext cx="108804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Prometheus, </a:t>
            </a:r>
            <a:r>
              <a:rPr lang="en-US" altLang="zh-CN" sz="2800" b="1" dirty="0" err="1"/>
              <a:t>Telegraf</a:t>
            </a:r>
            <a:r>
              <a:rPr lang="en-US" altLang="zh-CN" sz="2800" b="1" dirty="0"/>
              <a:t>, </a:t>
            </a:r>
            <a:r>
              <a:rPr lang="en-US" altLang="zh-CN" sz="2800" b="1" dirty="0" err="1"/>
              <a:t>InfluxDB</a:t>
            </a:r>
            <a:r>
              <a:rPr lang="en-US" altLang="zh-CN" sz="2800" b="1" dirty="0"/>
              <a:t> and </a:t>
            </a:r>
            <a:r>
              <a:rPr lang="en-US" altLang="zh-CN" sz="2800" b="1" dirty="0" err="1"/>
              <a:t>Grafana</a:t>
            </a:r>
            <a:r>
              <a:rPr lang="en-US" altLang="zh-CN" sz="2800" b="1" dirty="0"/>
              <a:t> integration</a:t>
            </a:r>
            <a:endParaRPr lang="zh-CN" altLang="en-US" sz="28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83217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65017" y="858982"/>
            <a:ext cx="11083637" cy="5449454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altLang="zh-CN" sz="1600" b="1" u="sng" dirty="0" smtClean="0"/>
              <a:t>Azure ADF metrics monitoring</a:t>
            </a:r>
          </a:p>
          <a:p>
            <a:endParaRPr lang="zh-CN" altLang="en-US" sz="1600" b="1" u="sng" dirty="0" smtClean="0"/>
          </a:p>
          <a:p>
            <a:r>
              <a:rPr lang="en-US" altLang="zh-CN" sz="1600" dirty="0" smtClean="0"/>
              <a:t>Azure metrics exporters:</a:t>
            </a:r>
            <a:endParaRPr lang="zh-CN" altLang="en-US" sz="1600" dirty="0" smtClean="0"/>
          </a:p>
          <a:p>
            <a:r>
              <a:rPr lang="en-US" altLang="zh-CN" sz="1600" dirty="0" smtClean="0"/>
              <a:t>ref: </a:t>
            </a:r>
            <a:r>
              <a:rPr lang="en-US" altLang="zh-CN" sz="1600" dirty="0" err="1" smtClean="0">
                <a:hlinkClick r:id="rId2"/>
              </a:rPr>
              <a:t>prometheus</a:t>
            </a:r>
            <a:r>
              <a:rPr lang="en-US" altLang="zh-CN" sz="1600" dirty="0" smtClean="0">
                <a:hlinkClick r:id="rId2"/>
              </a:rPr>
              <a:t> exporters</a:t>
            </a:r>
            <a:endParaRPr lang="zh-CN" altLang="en-US" sz="1600" dirty="0" smtClean="0">
              <a:hlinkClick r:id="rId2"/>
            </a:endParaRPr>
          </a:p>
          <a:p>
            <a:pPr marL="342900" lvl="1" indent="-342900">
              <a:buFont typeface="+mj-lt"/>
              <a:buAutoNum type="arabicPeriod"/>
            </a:pPr>
            <a:r>
              <a:rPr lang="en-US" sz="1600" dirty="0" err="1" smtClean="0">
                <a:hlinkClick r:id="rId3"/>
              </a:rPr>
              <a:t>azure_metrics_exporter</a:t>
            </a:r>
            <a:endParaRPr lang="zh-CN" altLang="en-US" sz="1600" dirty="0" smtClean="0">
              <a:hlinkClick r:id="rId3"/>
            </a:endParaRPr>
          </a:p>
          <a:p>
            <a:pPr marL="342900" lvl="1" indent="-342900">
              <a:buFont typeface="+mj-lt"/>
              <a:buAutoNum type="arabicPeriod"/>
            </a:pPr>
            <a:r>
              <a:rPr lang="en-US" sz="1600" dirty="0" err="1" smtClean="0">
                <a:hlinkClick r:id="rId4"/>
              </a:rPr>
              <a:t>promitor</a:t>
            </a:r>
            <a:endParaRPr lang="zh-CN" altLang="en-US" sz="1600" dirty="0" smtClean="0">
              <a:hlinkClick r:id="rId4"/>
            </a:endParaRPr>
          </a:p>
          <a:p>
            <a:pPr marL="342900" lvl="1" indent="-342900">
              <a:buFont typeface="+mj-lt"/>
              <a:buAutoNum type="arabicPeriod"/>
            </a:pPr>
            <a:r>
              <a:rPr lang="en-US" sz="1600" dirty="0" err="1" smtClean="0">
                <a:hlinkClick r:id="rId5"/>
              </a:rPr>
              <a:t>azure_health_exporter</a:t>
            </a:r>
            <a:endParaRPr lang="en-US" sz="1600" dirty="0" smtClean="0">
              <a:hlinkClick r:id="rId5"/>
            </a:endParaRPr>
          </a:p>
          <a:p>
            <a:pPr marL="0" lvl="1"/>
            <a:endParaRPr lang="zh-CN" altLang="en-US" sz="1600" dirty="0" smtClean="0">
              <a:hlinkClick r:id="rId5"/>
            </a:endParaRPr>
          </a:p>
          <a:p>
            <a:r>
              <a:rPr lang="en-US" altLang="zh-CN" sz="1600" dirty="0" smtClean="0"/>
              <a:t>List of ADF metrics exposed by Azure monitor</a:t>
            </a:r>
            <a:endParaRPr lang="zh-CN" altLang="en-US" sz="1600" dirty="0" smtClean="0"/>
          </a:p>
          <a:p>
            <a:r>
              <a:rPr lang="en-US" altLang="zh-CN" sz="1600" dirty="0" smtClean="0"/>
              <a:t>ref: </a:t>
            </a:r>
            <a:r>
              <a:rPr lang="en-US" altLang="zh-CN" sz="1600" dirty="0" err="1" smtClean="0">
                <a:hlinkClick r:id="rId6"/>
              </a:rPr>
              <a:t>adf</a:t>
            </a:r>
            <a:r>
              <a:rPr lang="en-US" altLang="zh-CN" sz="1600" dirty="0" smtClean="0">
                <a:hlinkClick r:id="rId6"/>
              </a:rPr>
              <a:t>-metrics-alert</a:t>
            </a:r>
            <a:endParaRPr lang="zh-CN" altLang="en-US" sz="1600" dirty="0" smtClean="0">
              <a:hlinkClick r:id="rId6"/>
            </a:endParaRPr>
          </a:p>
          <a:p>
            <a:pPr marL="342900" lvl="1" indent="-342900">
              <a:buFont typeface="+mj-lt"/>
              <a:buAutoNum type="arabicPeriod"/>
            </a:pPr>
            <a:r>
              <a:rPr lang="en-US" altLang="zh-CN" sz="1600" dirty="0" smtClean="0"/>
              <a:t>Canceled activity runs metrics</a:t>
            </a:r>
            <a:endParaRPr lang="zh-CN" altLang="en-US" sz="1600" dirty="0" smtClean="0"/>
          </a:p>
          <a:p>
            <a:pPr marL="342900" lvl="1" indent="-342900">
              <a:buFont typeface="+mj-lt"/>
              <a:buAutoNum type="arabicPeriod"/>
            </a:pPr>
            <a:r>
              <a:rPr lang="en-US" altLang="zh-CN" sz="1600" dirty="0" smtClean="0"/>
              <a:t>Failed activity runs metrics</a:t>
            </a:r>
            <a:endParaRPr lang="zh-CN" altLang="en-US" sz="1600" dirty="0" smtClean="0"/>
          </a:p>
          <a:p>
            <a:pPr marL="342900" lvl="1" indent="-342900">
              <a:buFont typeface="+mj-lt"/>
              <a:buAutoNum type="arabicPeriod"/>
            </a:pPr>
            <a:r>
              <a:rPr lang="en-US" altLang="zh-CN" sz="1600" dirty="0" smtClean="0"/>
              <a:t>Succeeded activity runs metrics</a:t>
            </a:r>
            <a:endParaRPr lang="zh-CN" altLang="en-US" sz="1600" dirty="0" smtClean="0"/>
          </a:p>
          <a:p>
            <a:pPr marL="342900" lvl="1" indent="-342900">
              <a:buFont typeface="+mj-lt"/>
              <a:buAutoNum type="arabicPeriod"/>
            </a:pPr>
            <a:r>
              <a:rPr lang="en-US" altLang="zh-CN" sz="1600" dirty="0" smtClean="0"/>
              <a:t>Canceled pipeline runs metrics</a:t>
            </a:r>
            <a:endParaRPr lang="zh-CN" altLang="en-US" sz="1600" dirty="0" smtClean="0"/>
          </a:p>
          <a:p>
            <a:pPr marL="342900" lvl="1" indent="-342900">
              <a:buFont typeface="+mj-lt"/>
              <a:buAutoNum type="arabicPeriod"/>
            </a:pPr>
            <a:r>
              <a:rPr lang="en-US" altLang="zh-CN" sz="1600" dirty="0" smtClean="0"/>
              <a:t>Failed pipeline runs metrics</a:t>
            </a:r>
            <a:endParaRPr lang="zh-CN" altLang="en-US" sz="1600" dirty="0" smtClean="0"/>
          </a:p>
          <a:p>
            <a:pPr marL="342900" lvl="1" indent="-342900">
              <a:buFont typeface="+mj-lt"/>
              <a:buAutoNum type="arabicPeriod"/>
            </a:pPr>
            <a:r>
              <a:rPr lang="en-US" altLang="zh-CN" sz="1600" dirty="0" smtClean="0"/>
              <a:t>Succeeded pipeline runs metrics</a:t>
            </a:r>
            <a:endParaRPr lang="zh-CN" altLang="en-US" sz="1600" dirty="0" smtClean="0"/>
          </a:p>
          <a:p>
            <a:pPr marL="342900" lvl="1" indent="-342900">
              <a:buFont typeface="+mj-lt"/>
              <a:buAutoNum type="arabicPeriod"/>
            </a:pPr>
            <a:r>
              <a:rPr lang="en-US" altLang="zh-CN" sz="1600" dirty="0" smtClean="0"/>
              <a:t>Canceled trigger runs metrics</a:t>
            </a:r>
            <a:endParaRPr lang="zh-CN" altLang="en-US" sz="1600" dirty="0" smtClean="0"/>
          </a:p>
          <a:p>
            <a:pPr marL="342900" lvl="1" indent="-342900">
              <a:buFont typeface="+mj-lt"/>
              <a:buAutoNum type="arabicPeriod"/>
            </a:pPr>
            <a:r>
              <a:rPr lang="en-US" altLang="zh-CN" sz="1600" dirty="0" smtClean="0"/>
              <a:t>Failed trigger runs metrics</a:t>
            </a:r>
            <a:endParaRPr lang="zh-CN" altLang="en-US" sz="1600" dirty="0" smtClean="0"/>
          </a:p>
          <a:p>
            <a:pPr marL="342900" lvl="1" indent="-342900">
              <a:buFont typeface="+mj-lt"/>
              <a:buAutoNum type="arabicPeriod"/>
            </a:pPr>
            <a:r>
              <a:rPr lang="en-US" altLang="zh-CN" sz="1600" dirty="0" smtClean="0"/>
              <a:t>Succeeded trigger runs metrics</a:t>
            </a:r>
            <a:endParaRPr lang="zh-CN" altLang="en-US" sz="1600" dirty="0" smtClean="0"/>
          </a:p>
          <a:p>
            <a:pPr marL="342900" lvl="1" indent="-342900">
              <a:buFont typeface="+mj-lt"/>
              <a:buAutoNum type="arabicPeriod"/>
            </a:pPr>
            <a:r>
              <a:rPr lang="en-US" altLang="zh-CN" sz="1600" dirty="0" smtClean="0"/>
              <a:t>Canceled SSIS integration runtime start metrics</a:t>
            </a:r>
            <a:endParaRPr lang="zh-CN" altLang="en-US" sz="1600" dirty="0" smtClean="0"/>
          </a:p>
          <a:p>
            <a:pPr marL="342900" lvl="1" indent="-342900">
              <a:buFont typeface="+mj-lt"/>
              <a:buAutoNum type="arabicPeriod"/>
            </a:pPr>
            <a:r>
              <a:rPr lang="en-US" altLang="zh-CN" sz="1600" dirty="0" smtClean="0"/>
              <a:t>Failed SSIS integration runtime start metrics</a:t>
            </a:r>
            <a:endParaRPr lang="zh-CN" altLang="en-US" sz="1600" dirty="0" smtClean="0"/>
          </a:p>
          <a:p>
            <a:pPr marL="342900" lvl="1" indent="-342900">
              <a:buFont typeface="+mj-lt"/>
              <a:buAutoNum type="arabicPeriod"/>
            </a:pPr>
            <a:r>
              <a:rPr lang="en-US" altLang="zh-CN" sz="1600" dirty="0" smtClean="0"/>
              <a:t>Succeeded SSIS integration runtime start metrics</a:t>
            </a:r>
            <a:endParaRPr lang="zh-CN" altLang="en-US" sz="1600" dirty="0" smtClean="0"/>
          </a:p>
          <a:p>
            <a:pPr marL="342900" lvl="1" indent="-342900">
              <a:buFont typeface="+mj-lt"/>
              <a:buAutoNum type="arabicPeriod"/>
            </a:pPr>
            <a:r>
              <a:rPr lang="en-US" altLang="zh-CN" sz="1600" dirty="0" smtClean="0"/>
              <a:t>Stuck SSIS integration runtime stop metrics</a:t>
            </a:r>
            <a:endParaRPr lang="zh-CN" altLang="en-US" sz="1600" dirty="0" smtClean="0"/>
          </a:p>
          <a:p>
            <a:pPr marL="342900" lvl="1" indent="-342900">
              <a:buFont typeface="+mj-lt"/>
              <a:buAutoNum type="arabicPeriod"/>
            </a:pPr>
            <a:r>
              <a:rPr lang="en-US" altLang="zh-CN" sz="1600" dirty="0" smtClean="0"/>
              <a:t>Succeeded SSIS integration runtime stop metrics</a:t>
            </a:r>
            <a:endParaRPr lang="zh-CN" altLang="en-US" sz="1600" dirty="0" smtClean="0"/>
          </a:p>
          <a:p>
            <a:pPr marL="342900" lvl="1" indent="-342900">
              <a:buFont typeface="+mj-lt"/>
              <a:buAutoNum type="arabicPeriod"/>
            </a:pPr>
            <a:r>
              <a:rPr lang="en-US" altLang="zh-CN" sz="1600" dirty="0" smtClean="0"/>
              <a:t>Canceled SSIS package execution metrics</a:t>
            </a:r>
            <a:endParaRPr lang="zh-CN" altLang="en-US" sz="1600" dirty="0" smtClean="0"/>
          </a:p>
          <a:p>
            <a:pPr marL="342900" lvl="1" indent="-342900">
              <a:buFont typeface="+mj-lt"/>
              <a:buAutoNum type="arabicPeriod"/>
            </a:pPr>
            <a:r>
              <a:rPr lang="en-US" altLang="zh-CN" sz="1600" dirty="0" smtClean="0"/>
              <a:t>Failed SSIS package execution metrics</a:t>
            </a:r>
            <a:endParaRPr lang="zh-CN" altLang="en-US" sz="1600" dirty="0" smtClean="0"/>
          </a:p>
          <a:p>
            <a:pPr marL="342900" lvl="1" indent="-342900">
              <a:buFont typeface="+mj-lt"/>
              <a:buAutoNum type="arabicPeriod"/>
            </a:pPr>
            <a:r>
              <a:rPr lang="en-US" altLang="zh-CN" sz="1600" dirty="0" smtClean="0"/>
              <a:t>Succeeded SSIS package execution metrics</a:t>
            </a:r>
            <a:endParaRPr lang="zh-CN" altLang="en-US" sz="1600" dirty="0" smtClean="0"/>
          </a:p>
          <a:p>
            <a:pPr marL="342900" lvl="1" indent="-342900">
              <a:buFont typeface="+mj-lt"/>
              <a:buAutoNum type="arabicPeriod"/>
            </a:pPr>
            <a:r>
              <a:rPr lang="en-US" altLang="zh-CN" sz="1600" dirty="0" smtClean="0"/>
              <a:t>Elapsed time pipeline runs metrics</a:t>
            </a:r>
            <a:endParaRPr lang="zh-CN" altLang="en-US" sz="1600" dirty="0" smtClean="0"/>
          </a:p>
          <a:p>
            <a:pPr marL="342900" lvl="1" indent="-342900">
              <a:buFont typeface="+mj-lt"/>
              <a:buAutoNum type="arabicPeriod"/>
            </a:pPr>
            <a:r>
              <a:rPr lang="en-US" altLang="zh-CN" sz="1600" dirty="0" smtClean="0"/>
              <a:t>Available memory for integration runtime</a:t>
            </a:r>
            <a:endParaRPr lang="zh-CN" altLang="en-US" sz="1600" dirty="0" smtClean="0"/>
          </a:p>
          <a:p>
            <a:pPr marL="342900" lvl="1" indent="-342900">
              <a:buFont typeface="+mj-lt"/>
              <a:buAutoNum type="arabicPeriod"/>
            </a:pPr>
            <a:r>
              <a:rPr lang="en-US" altLang="zh-CN" sz="1600" dirty="0" smtClean="0"/>
              <a:t>Available nodes for integration runtime</a:t>
            </a:r>
            <a:endParaRPr lang="zh-CN" altLang="en-US" sz="1600" dirty="0" smtClean="0"/>
          </a:p>
          <a:p>
            <a:pPr marL="342900" lvl="1" indent="-342900">
              <a:buFont typeface="+mj-lt"/>
              <a:buAutoNum type="arabicPeriod"/>
            </a:pPr>
            <a:r>
              <a:rPr lang="en-US" altLang="zh-CN" sz="1600" dirty="0" smtClean="0"/>
              <a:t>CPU utilization for integration runtime</a:t>
            </a:r>
            <a:endParaRPr lang="zh-CN" altLang="en-US" sz="1600" dirty="0" smtClean="0"/>
          </a:p>
          <a:p>
            <a:pPr marL="342900" lvl="1" indent="-342900">
              <a:buFont typeface="+mj-lt"/>
              <a:buAutoNum type="arabicPeriod"/>
            </a:pPr>
            <a:r>
              <a:rPr lang="en-US" altLang="zh-CN" sz="1600" dirty="0" smtClean="0"/>
              <a:t>Queue duration for integration runtime</a:t>
            </a:r>
            <a:endParaRPr lang="zh-CN" altLang="en-US" sz="1600" dirty="0" smtClean="0"/>
          </a:p>
          <a:p>
            <a:pPr marL="342900" lvl="1" indent="-342900">
              <a:buFont typeface="+mj-lt"/>
              <a:buAutoNum type="arabicPeriod"/>
            </a:pPr>
            <a:r>
              <a:rPr lang="en-US" altLang="zh-CN" sz="1600" dirty="0" smtClean="0"/>
              <a:t>Queue length for integration runtime</a:t>
            </a:r>
            <a:endParaRPr lang="zh-CN" altLang="en-US" sz="1600" dirty="0" smtClean="0"/>
          </a:p>
          <a:p>
            <a:endParaRPr lang="zh-CN" altLang="en-US" dirty="0" smtClean="0"/>
          </a:p>
          <a:p>
            <a:r>
              <a:rPr lang="en-US" altLang="zh-CN" sz="1600" b="1" u="sng" dirty="0" smtClean="0"/>
              <a:t>Azure cost metrics monitoring</a:t>
            </a:r>
            <a:endParaRPr lang="zh-CN" altLang="en-US" sz="1600" b="1" u="sng" dirty="0" smtClean="0"/>
          </a:p>
          <a:p>
            <a:r>
              <a:rPr lang="en-US" altLang="zh-CN" sz="1600" dirty="0" smtClean="0"/>
              <a:t>Could not found anything reliable resource around to this. Not sure, if azure monitor expose cost metrics or not.</a:t>
            </a:r>
            <a:endParaRPr lang="zh-CN" altLang="en-US" sz="1600" dirty="0" smtClean="0"/>
          </a:p>
          <a:p>
            <a:r>
              <a:rPr lang="en-US" altLang="zh-CN" sz="1600" dirty="0" smtClean="0"/>
              <a:t>Few references, may be helpful</a:t>
            </a:r>
            <a:endParaRPr lang="zh-CN" altLang="en-US" sz="1600" dirty="0" smtClean="0"/>
          </a:p>
          <a:p>
            <a:pPr marL="342900" lvl="1" indent="-342900">
              <a:buFont typeface="+mj-lt"/>
              <a:buAutoNum type="arabicPeriod"/>
            </a:pPr>
            <a:r>
              <a:rPr lang="en-US" sz="1600" dirty="0" err="1" smtClean="0">
                <a:hlinkClick r:id="rId7"/>
              </a:rPr>
              <a:t>azure_billing_exporter</a:t>
            </a:r>
            <a:endParaRPr lang="zh-CN" altLang="en-US" sz="1600" dirty="0" smtClean="0">
              <a:hlinkClick r:id="rId7"/>
            </a:endParaRPr>
          </a:p>
          <a:p>
            <a:pPr marL="342900" lvl="1" indent="-342900">
              <a:buFont typeface="+mj-lt"/>
              <a:buAutoNum type="arabicPeriod"/>
            </a:pPr>
            <a:r>
              <a:rPr lang="en-US" sz="1600" dirty="0" smtClean="0">
                <a:hlinkClick r:id="rId8"/>
              </a:rPr>
              <a:t>azure-monitor-datasource-github-issues-81</a:t>
            </a:r>
            <a:endParaRPr lang="zh-CN" altLang="en-US" sz="1600" dirty="0" smtClean="0">
              <a:hlinkClick r:id="rId8"/>
            </a:endParaRP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65018" y="335762"/>
            <a:ext cx="10797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Azure </a:t>
            </a:r>
            <a:r>
              <a:rPr lang="en-US" altLang="zh-CN" sz="2800" b="1" dirty="0" smtClean="0"/>
              <a:t>ADF and Cost metrics monitoring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192453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240</Words>
  <Application>Microsoft Office PowerPoint</Application>
  <PresentationFormat>Widescreen</PresentationFormat>
  <Paragraphs>58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等线</vt:lpstr>
      <vt:lpstr>Office Theme</vt:lpstr>
      <vt:lpstr>PowerPoint Presentation</vt:lpstr>
      <vt:lpstr>PowerPoint Presentation</vt:lpstr>
    </vt:vector>
  </TitlesOfParts>
  <Company>HCL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Mangat Murmu</dc:creator>
  <cp:lastModifiedBy>Mangat Murmu</cp:lastModifiedBy>
  <cp:revision>3</cp:revision>
  <dcterms:created xsi:type="dcterms:W3CDTF">2022-04-22T11:41:05Z</dcterms:created>
  <dcterms:modified xsi:type="dcterms:W3CDTF">2022-04-22T12:01:28Z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f76801cb-7fbe-4928-9961-15f058cf66c1</vt:lpwstr>
  </property>
  <property fmtid="{D5CDD505-2E9C-101B-9397-08002B2CF9AE}" pid="3" name="HCLClassification">
    <vt:lpwstr>HCL_Cla5s_1nt3rnal</vt:lpwstr>
  </property>
</Properties>
</file>